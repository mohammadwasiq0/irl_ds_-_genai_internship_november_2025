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4" r:id="rId4"/>
    <p:sldId id="277" r:id="rId5"/>
    <p:sldId id="278" r:id="rId6"/>
    <p:sldId id="279" r:id="rId7"/>
    <p:sldId id="280" r:id="rId8"/>
    <p:sldId id="270" r:id="rId9"/>
    <p:sldId id="281" r:id="rId10"/>
    <p:sldId id="282" r:id="rId11"/>
    <p:sldId id="283"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535"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Nh3uBJcMATZT0WVTVokBKc3SDvIpl9Vt/view?usp=sharing" TargetMode="External"/><Relationship Id="rId2" Type="http://schemas.openxmlformats.org/officeDocument/2006/relationships/hyperlink" Target="https://docs.google.com/document/d/1ukDenj3MjDMo3S4R2PjWCZjiK9cLTecxo9XHQz5WuVE/edit" TargetMode="External"/><Relationship Id="rId1" Type="http://schemas.openxmlformats.org/officeDocument/2006/relationships/slideLayout" Target="../slideLayouts/slideLayout2.xml"/><Relationship Id="rId4" Type="http://schemas.openxmlformats.org/officeDocument/2006/relationships/hyperlink" Target="https://www.flipkart.com/yonex-mavis-350-nylon-shuttle-yellow/p/itmfcjdyhnghfyey?pid=STLEFJ7UFQGRUUR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5E12751A-0BD9-4898-B67E-A19785F6128A}"/>
              </a:ext>
            </a:extLst>
          </p:cNvPr>
          <p:cNvSpPr>
            <a:spLocks noGrp="1"/>
          </p:cNvSpPr>
          <p:nvPr>
            <p:ph type="subTitle" idx="1"/>
          </p:nvPr>
        </p:nvSpPr>
        <p:spPr>
          <a:xfrm>
            <a:off x="1185343" y="4677498"/>
            <a:ext cx="7328342" cy="1673692"/>
          </a:xfrm>
        </p:spPr>
        <p:txBody>
          <a:bodyPr>
            <a:normAutofit fontScale="85000" lnSpcReduction="10000"/>
          </a:bodyPr>
          <a:lstStyle/>
          <a:p>
            <a:pPr algn="ctr"/>
            <a:r>
              <a:rPr lang="en-US" sz="6200" b="1" dirty="0">
                <a:solidFill>
                  <a:schemeClr val="tx1"/>
                </a:solidFill>
                <a:latin typeface="Arial Black" panose="020B0A04020102020204" pitchFamily="34" charset="0"/>
              </a:rPr>
              <a:t>Name: </a:t>
            </a:r>
            <a:endParaRPr lang="en-US" sz="6200" b="1" dirty="0" smtClean="0">
              <a:solidFill>
                <a:schemeClr val="tx1"/>
              </a:solidFill>
              <a:latin typeface="Arial Black" panose="020B0A04020102020204" pitchFamily="34" charset="0"/>
            </a:endParaRPr>
          </a:p>
          <a:p>
            <a:pPr algn="ctr"/>
            <a:r>
              <a:rPr lang="en-US" sz="6200" b="1" dirty="0" smtClean="0">
                <a:solidFill>
                  <a:schemeClr val="tx1"/>
                </a:solidFill>
                <a:latin typeface="Arial Black" panose="020B0A04020102020204" pitchFamily="34" charset="0"/>
              </a:rPr>
              <a:t>Mohammad </a:t>
            </a:r>
            <a:r>
              <a:rPr lang="en-US" sz="6200" b="1" dirty="0">
                <a:solidFill>
                  <a:schemeClr val="tx1"/>
                </a:solidFill>
                <a:latin typeface="Arial Black" panose="020B0A04020102020204" pitchFamily="34" charset="0"/>
              </a:rPr>
              <a:t>Wasiq</a:t>
            </a:r>
          </a:p>
          <a:p>
            <a:pPr algn="ctr"/>
            <a:endParaRPr lang="en-US" dirty="0"/>
          </a:p>
        </p:txBody>
      </p:sp>
      <p:pic>
        <p:nvPicPr>
          <p:cNvPr id="1028" name="Picture 4" descr="Certified Investment Banking training in Hyderabad | Innomatics">
            <a:extLst>
              <a:ext uri="{FF2B5EF4-FFF2-40B4-BE49-F238E27FC236}">
                <a16:creationId xmlns:a16="http://schemas.microsoft.com/office/drawing/2014/main" xmlns="" id="{58423C33-B839-4F84-8673-94ECA394A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275619"/>
            <a:ext cx="8007178" cy="27922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7F01642C-E85D-4232-BD7C-3B8248F0394B}"/>
              </a:ext>
            </a:extLst>
          </p:cNvPr>
          <p:cNvSpPr/>
          <p:nvPr/>
        </p:nvSpPr>
        <p:spPr>
          <a:xfrm>
            <a:off x="581025" y="3210987"/>
            <a:ext cx="9496425" cy="1323439"/>
          </a:xfrm>
          <a:prstGeom prst="rect">
            <a:avLst/>
          </a:prstGeom>
        </p:spPr>
        <p:txBody>
          <a:bodyPr wrap="square">
            <a:spAutoFit/>
          </a:bodyPr>
          <a:lstStyle/>
          <a:p>
            <a:pPr algn="ctr"/>
            <a:r>
              <a:rPr lang="en-US" sz="4000" b="1" dirty="0">
                <a:solidFill>
                  <a:srgbClr val="FF0000"/>
                </a:solidFill>
                <a:latin typeface="Arial Black" panose="020B0A04020102020204" pitchFamily="34" charset="0"/>
              </a:rPr>
              <a:t>Sentiment Analysis </a:t>
            </a:r>
          </a:p>
          <a:p>
            <a:pPr algn="ctr"/>
            <a:r>
              <a:rPr lang="en-US" sz="4000" b="1" dirty="0">
                <a:solidFill>
                  <a:srgbClr val="FF0000"/>
                </a:solidFill>
                <a:latin typeface="Arial Black" panose="020B0A04020102020204" pitchFamily="34" charset="0"/>
              </a:rPr>
              <a:t>Flipkart Product Reviews</a:t>
            </a:r>
          </a:p>
        </p:txBody>
      </p:sp>
    </p:spTree>
    <p:extLst>
      <p:ext uri="{BB962C8B-B14F-4D97-AF65-F5344CB8AC3E}">
        <p14:creationId xmlns:p14="http://schemas.microsoft.com/office/powerpoint/2010/main" val="2116744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464213"/>
            <a:ext cx="5037666" cy="704850"/>
          </a:xfrm>
        </p:spPr>
        <p:txBody>
          <a:bodyPr/>
          <a:lstStyle/>
          <a:p>
            <a:pPr algn="ctr"/>
            <a:r>
              <a:rPr lang="en-US" b="1" dirty="0">
                <a:latin typeface="Arial Black" panose="020B0A04020102020204" pitchFamily="34" charset="0"/>
              </a:rPr>
              <a:t>Objective</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1391709" y="1731038"/>
            <a:ext cx="7342716" cy="2221837"/>
          </a:xfrm>
        </p:spPr>
        <p:txBody>
          <a:bodyPr>
            <a:normAutofit lnSpcReduction="10000"/>
          </a:bodyPr>
          <a:lstStyle/>
          <a:p>
            <a:pPr algn="just"/>
            <a:r>
              <a:rPr lang="en-US" dirty="0">
                <a:latin typeface="Arial Black" panose="020B0A04020102020204" pitchFamily="34" charset="0"/>
              </a:rPr>
              <a:t>The objective of this project is to classify customer reviews as positive or negative and understand the pain points of customers who write negative reviews. By analyzing the sentiment of reviews, we aim to gain insights into product features that contribute to customer satisfaction or dissatisfaction.</a:t>
            </a:r>
          </a:p>
          <a:p>
            <a:pPr marL="0" indent="0">
              <a:buNone/>
            </a:pPr>
            <a:r>
              <a:rPr lang="en-US" dirty="0"/>
              <a:t/>
            </a:r>
            <a:br>
              <a:rPr lang="en-US" dirty="0"/>
            </a:br>
            <a:endParaRPr lang="en-US" b="1" dirty="0">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3230224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464213"/>
            <a:ext cx="5037666" cy="704850"/>
          </a:xfrm>
        </p:spPr>
        <p:txBody>
          <a:bodyPr/>
          <a:lstStyle/>
          <a:p>
            <a:pPr algn="ctr"/>
            <a:r>
              <a:rPr lang="en-US" b="1" dirty="0">
                <a:latin typeface="Arial Black" panose="020B0A04020102020204" pitchFamily="34" charset="0"/>
              </a:rPr>
              <a:t>Dataset</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485775" y="1255363"/>
            <a:ext cx="9277350" cy="3173762"/>
          </a:xfrm>
        </p:spPr>
        <p:txBody>
          <a:bodyPr>
            <a:noAutofit/>
          </a:bodyPr>
          <a:lstStyle/>
          <a:p>
            <a:pPr algn="just"/>
            <a:r>
              <a:rPr lang="en-US" dirty="0">
                <a:latin typeface="Arial Black" panose="020B0A04020102020204" pitchFamily="34" charset="0"/>
              </a:rPr>
              <a:t>A team of Data Engineers have already scraped real-time data from Flipkart website. They followed the instructions </a:t>
            </a:r>
            <a:r>
              <a:rPr lang="en-US" b="1" u="sng" dirty="0">
                <a:latin typeface="Arial Black" panose="020B0A04020102020204" pitchFamily="34" charset="0"/>
                <a:hlinkClick r:id="rId2"/>
              </a:rPr>
              <a:t>given in this documentation</a:t>
            </a:r>
            <a:r>
              <a:rPr lang="en-US" dirty="0">
                <a:latin typeface="Arial Black" panose="020B0A04020102020204" pitchFamily="34" charset="0"/>
              </a:rPr>
              <a:t> for extracting user reviews. </a:t>
            </a:r>
            <a:r>
              <a:rPr lang="en-US" b="1" dirty="0">
                <a:latin typeface="Arial Black" panose="020B0A04020102020204" pitchFamily="34" charset="0"/>
              </a:rPr>
              <a:t>Don’t scrape your own data</a:t>
            </a:r>
            <a:r>
              <a:rPr lang="en-US" dirty="0">
                <a:latin typeface="Arial Black" panose="020B0A04020102020204" pitchFamily="34" charset="0"/>
              </a:rPr>
              <a:t>. Use the dataset given below to solve the problem statement.</a:t>
            </a:r>
          </a:p>
          <a:p>
            <a:pPr algn="just"/>
            <a:r>
              <a:rPr lang="en-US" b="1" u="sng" dirty="0">
                <a:latin typeface="Arial Black" panose="020B0A04020102020204" pitchFamily="34" charset="0"/>
                <a:hlinkClick r:id="rId3"/>
              </a:rPr>
              <a:t>Click Here</a:t>
            </a:r>
            <a:r>
              <a:rPr lang="en-US" b="1" dirty="0">
                <a:latin typeface="Arial Black" panose="020B0A04020102020204" pitchFamily="34" charset="0"/>
              </a:rPr>
              <a:t> </a:t>
            </a:r>
            <a:r>
              <a:rPr lang="en-US" dirty="0">
                <a:latin typeface="Arial Black" panose="020B0A04020102020204" pitchFamily="34" charset="0"/>
              </a:rPr>
              <a:t>to download the data.</a:t>
            </a:r>
          </a:p>
          <a:p>
            <a:pPr algn="just"/>
            <a:r>
              <a:rPr lang="en-US" dirty="0">
                <a:latin typeface="Arial Black" panose="020B0A04020102020204" pitchFamily="34" charset="0"/>
              </a:rPr>
              <a:t>The dataset consists of 8,518 reviews for the "</a:t>
            </a:r>
            <a:r>
              <a:rPr lang="en-US" u="sng" dirty="0">
                <a:latin typeface="Arial Black" panose="020B0A04020102020204" pitchFamily="34" charset="0"/>
                <a:hlinkClick r:id="rId4"/>
              </a:rPr>
              <a:t>YONEX MAVIS 350 Nylon Shuttle</a:t>
            </a:r>
            <a:r>
              <a:rPr lang="en-US" dirty="0">
                <a:latin typeface="Arial Black" panose="020B0A04020102020204" pitchFamily="34" charset="0"/>
              </a:rPr>
              <a:t>" product from Flipkart. Each review includes features such as Reviewer Name, Rating, Review Title, Review Text, Place of Review, Date of Review, Up Votes, and Down Votes.</a:t>
            </a:r>
          </a:p>
        </p:txBody>
      </p:sp>
    </p:spTree>
    <p:extLst>
      <p:ext uri="{BB962C8B-B14F-4D97-AF65-F5344CB8AC3E}">
        <p14:creationId xmlns:p14="http://schemas.microsoft.com/office/powerpoint/2010/main" val="2077718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464213"/>
            <a:ext cx="5037666" cy="704850"/>
          </a:xfrm>
        </p:spPr>
        <p:txBody>
          <a:bodyPr>
            <a:normAutofit fontScale="90000"/>
          </a:bodyPr>
          <a:lstStyle/>
          <a:p>
            <a:pPr algn="ctr"/>
            <a:r>
              <a:rPr lang="en-US" b="1" dirty="0">
                <a:latin typeface="Arial Black" panose="020B0A04020102020204" pitchFamily="34" charset="0"/>
              </a:rPr>
              <a:t>Data Preprocessing</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485775" y="1255363"/>
            <a:ext cx="9277350" cy="2478437"/>
          </a:xfrm>
        </p:spPr>
        <p:txBody>
          <a:bodyPr>
            <a:noAutofit/>
          </a:bodyPr>
          <a:lstStyle/>
          <a:p>
            <a:pPr algn="just"/>
            <a:r>
              <a:rPr lang="en-US" dirty="0">
                <a:latin typeface="Arial Black" panose="020B0A04020102020204" pitchFamily="34" charset="0"/>
              </a:rPr>
              <a:t>Text Cleaning: Remove special characters, punctuation, and </a:t>
            </a:r>
            <a:r>
              <a:rPr lang="en-US" dirty="0" err="1">
                <a:latin typeface="Arial Black" panose="020B0A04020102020204" pitchFamily="34" charset="0"/>
              </a:rPr>
              <a:t>stopwords</a:t>
            </a:r>
            <a:r>
              <a:rPr lang="en-US" dirty="0">
                <a:latin typeface="Arial Black" panose="020B0A04020102020204" pitchFamily="34" charset="0"/>
              </a:rPr>
              <a:t> from the review text.</a:t>
            </a:r>
          </a:p>
          <a:p>
            <a:pPr algn="just"/>
            <a:r>
              <a:rPr lang="en-US" dirty="0">
                <a:latin typeface="Arial Black" panose="020B0A04020102020204" pitchFamily="34" charset="0"/>
              </a:rPr>
              <a:t>Text Normalization: Perform lemmatization or stemming to reduce words to their base forms.</a:t>
            </a:r>
          </a:p>
          <a:p>
            <a:pPr algn="just"/>
            <a:r>
              <a:rPr lang="en-US" dirty="0">
                <a:latin typeface="Arial Black" panose="020B0A04020102020204" pitchFamily="34" charset="0"/>
              </a:rPr>
              <a:t>Numerical Feature Extraction: Apply techniques like Bag-of-Words (</a:t>
            </a:r>
            <a:r>
              <a:rPr lang="en-US" dirty="0" err="1">
                <a:latin typeface="Arial Black" panose="020B0A04020102020204" pitchFamily="34" charset="0"/>
              </a:rPr>
              <a:t>BoW</a:t>
            </a:r>
            <a:r>
              <a:rPr lang="en-US" dirty="0">
                <a:latin typeface="Arial Black" panose="020B0A04020102020204" pitchFamily="34" charset="0"/>
              </a:rPr>
              <a:t>), Term Frequency-Inverse Document Frequency (TF-IDF), Word2Vec (W2V), and BERT models for feature extraction.</a:t>
            </a:r>
          </a:p>
        </p:txBody>
      </p:sp>
    </p:spTree>
    <p:extLst>
      <p:ext uri="{BB962C8B-B14F-4D97-AF65-F5344CB8AC3E}">
        <p14:creationId xmlns:p14="http://schemas.microsoft.com/office/powerpoint/2010/main" val="3452759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464213"/>
            <a:ext cx="5037666" cy="704850"/>
          </a:xfrm>
        </p:spPr>
        <p:txBody>
          <a:bodyPr>
            <a:normAutofit/>
          </a:bodyPr>
          <a:lstStyle/>
          <a:p>
            <a:pPr algn="ctr"/>
            <a:r>
              <a:rPr lang="en-US" b="1" dirty="0">
                <a:latin typeface="Arial Black" panose="020B0A04020102020204" pitchFamily="34" charset="0"/>
              </a:rPr>
              <a:t>Modeling Approach</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485775" y="1255364"/>
            <a:ext cx="9277350" cy="1706912"/>
          </a:xfrm>
        </p:spPr>
        <p:txBody>
          <a:bodyPr>
            <a:noAutofit/>
          </a:bodyPr>
          <a:lstStyle/>
          <a:p>
            <a:pPr algn="just"/>
            <a:r>
              <a:rPr lang="en-US" dirty="0">
                <a:latin typeface="Arial Black" panose="020B0A04020102020204" pitchFamily="34" charset="0"/>
              </a:rPr>
              <a:t>Model Selection: Train and evaluate various machine learning and deep learning models using the embedded text data.</a:t>
            </a:r>
          </a:p>
          <a:p>
            <a:pPr algn="just"/>
            <a:r>
              <a:rPr lang="en-US" dirty="0">
                <a:latin typeface="Arial Black" panose="020B0A04020102020204" pitchFamily="34" charset="0"/>
              </a:rPr>
              <a:t>Evaluation Metric: Use the F1-Score as the evaluation metric to assess the performance of the models in classifying sentiment.</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836144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464213"/>
            <a:ext cx="5037666" cy="704850"/>
          </a:xfrm>
        </p:spPr>
        <p:txBody>
          <a:bodyPr>
            <a:normAutofit/>
          </a:bodyPr>
          <a:lstStyle/>
          <a:p>
            <a:pPr algn="ctr"/>
            <a:r>
              <a:rPr lang="en-US" b="1" dirty="0">
                <a:latin typeface="Arial Black" panose="020B0A04020102020204" pitchFamily="34" charset="0"/>
              </a:rPr>
              <a:t>Model Deployment</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485775" y="1255364"/>
            <a:ext cx="9277350" cy="3107086"/>
          </a:xfrm>
        </p:spPr>
        <p:txBody>
          <a:bodyPr>
            <a:noAutofit/>
          </a:bodyPr>
          <a:lstStyle/>
          <a:p>
            <a:pPr algn="just"/>
            <a:r>
              <a:rPr lang="en-US" dirty="0">
                <a:latin typeface="Arial Black" panose="020B0A04020102020204" pitchFamily="34" charset="0"/>
              </a:rPr>
              <a:t>Flask or </a:t>
            </a:r>
            <a:r>
              <a:rPr lang="en-US" dirty="0" err="1">
                <a:latin typeface="Arial Black" panose="020B0A04020102020204" pitchFamily="34" charset="0"/>
              </a:rPr>
              <a:t>Streamlit</a:t>
            </a:r>
            <a:r>
              <a:rPr lang="en-US" dirty="0">
                <a:latin typeface="Arial Black" panose="020B0A04020102020204" pitchFamily="34" charset="0"/>
              </a:rPr>
              <a:t> App Development: Develop a Flask or </a:t>
            </a:r>
            <a:r>
              <a:rPr lang="en-US" dirty="0" err="1">
                <a:latin typeface="Arial Black" panose="020B0A04020102020204" pitchFamily="34" charset="0"/>
              </a:rPr>
              <a:t>Streamlit</a:t>
            </a:r>
            <a:r>
              <a:rPr lang="en-US" dirty="0">
                <a:latin typeface="Arial Black" panose="020B0A04020102020204" pitchFamily="34" charset="0"/>
              </a:rPr>
              <a:t> web application that takes user input in the form of a review and generates the sentiment (positive or negative) of the review.</a:t>
            </a:r>
          </a:p>
          <a:p>
            <a:pPr algn="just"/>
            <a:r>
              <a:rPr lang="en-US" dirty="0">
                <a:latin typeface="Arial Black" panose="020B0A04020102020204" pitchFamily="34" charset="0"/>
              </a:rPr>
              <a:t>Model Integration: Integrate the trained sentiment classification model into the Flask or </a:t>
            </a:r>
            <a:r>
              <a:rPr lang="en-US" dirty="0" err="1">
                <a:latin typeface="Arial Black" panose="020B0A04020102020204" pitchFamily="34" charset="0"/>
              </a:rPr>
              <a:t>Streamlit</a:t>
            </a:r>
            <a:r>
              <a:rPr lang="en-US" dirty="0">
                <a:latin typeface="Arial Black" panose="020B0A04020102020204" pitchFamily="34" charset="0"/>
              </a:rPr>
              <a:t> app for real-time inference.</a:t>
            </a:r>
          </a:p>
          <a:p>
            <a:pPr algn="just"/>
            <a:r>
              <a:rPr lang="en-US" dirty="0">
                <a:latin typeface="Arial Black" panose="020B0A04020102020204" pitchFamily="34" charset="0"/>
              </a:rPr>
              <a:t>Deployment: Deploy the Flask or </a:t>
            </a:r>
            <a:r>
              <a:rPr lang="en-US" dirty="0" err="1">
                <a:latin typeface="Arial Black" panose="020B0A04020102020204" pitchFamily="34" charset="0"/>
              </a:rPr>
              <a:t>Streamlit</a:t>
            </a:r>
            <a:r>
              <a:rPr lang="en-US" dirty="0">
                <a:latin typeface="Arial Black" panose="020B0A04020102020204" pitchFamily="34" charset="0"/>
              </a:rPr>
              <a:t> app on an AWS EC2 instance to make it accessible over the internet.</a:t>
            </a:r>
          </a:p>
          <a:p>
            <a:pPr algn="just"/>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19259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E7E86C-77FA-4188-AFB4-AB7EAF44D026}"/>
              </a:ext>
            </a:extLst>
          </p:cNvPr>
          <p:cNvSpPr>
            <a:spLocks noGrp="1"/>
          </p:cNvSpPr>
          <p:nvPr>
            <p:ph type="title"/>
          </p:nvPr>
        </p:nvSpPr>
        <p:spPr>
          <a:xfrm>
            <a:off x="2456835" y="207038"/>
            <a:ext cx="5037666" cy="704850"/>
          </a:xfrm>
        </p:spPr>
        <p:txBody>
          <a:bodyPr>
            <a:normAutofit/>
          </a:bodyPr>
          <a:lstStyle/>
          <a:p>
            <a:pPr algn="ctr"/>
            <a:r>
              <a:rPr lang="en-US" b="1" dirty="0">
                <a:latin typeface="Arial Black" panose="020B0A04020102020204" pitchFamily="34" charset="0"/>
              </a:rPr>
              <a:t>Workflow</a:t>
            </a:r>
          </a:p>
        </p:txBody>
      </p:sp>
      <p:sp>
        <p:nvSpPr>
          <p:cNvPr id="3" name="Content Placeholder 2">
            <a:extLst>
              <a:ext uri="{FF2B5EF4-FFF2-40B4-BE49-F238E27FC236}">
                <a16:creationId xmlns:a16="http://schemas.microsoft.com/office/drawing/2014/main" xmlns="" id="{69FB616B-D1F8-40A4-A21E-B7ABF06F03DE}"/>
              </a:ext>
            </a:extLst>
          </p:cNvPr>
          <p:cNvSpPr>
            <a:spLocks noGrp="1"/>
          </p:cNvSpPr>
          <p:nvPr>
            <p:ph idx="1"/>
          </p:nvPr>
        </p:nvSpPr>
        <p:spPr>
          <a:xfrm>
            <a:off x="485775" y="807688"/>
            <a:ext cx="9277350" cy="5364511"/>
          </a:xfrm>
        </p:spPr>
        <p:txBody>
          <a:bodyPr>
            <a:noAutofit/>
          </a:bodyPr>
          <a:lstStyle/>
          <a:p>
            <a:pPr algn="just"/>
            <a:r>
              <a:rPr lang="en-US" dirty="0">
                <a:latin typeface="Arial Black" panose="020B0A04020102020204" pitchFamily="34" charset="0"/>
              </a:rPr>
              <a:t>Data Loading and Analysis: Gain insights into product features that contribute to customer satisfaction or dissatisfaction.</a:t>
            </a:r>
          </a:p>
          <a:p>
            <a:pPr algn="just"/>
            <a:r>
              <a:rPr lang="en-US" dirty="0">
                <a:latin typeface="Arial Black" panose="020B0A04020102020204" pitchFamily="34" charset="0"/>
              </a:rPr>
              <a:t>Data Cleaning: Preprocess the review text by removing noise and normalizing the text.</a:t>
            </a:r>
          </a:p>
          <a:p>
            <a:pPr algn="just"/>
            <a:r>
              <a:rPr lang="en-US" dirty="0">
                <a:latin typeface="Arial Black" panose="020B0A04020102020204" pitchFamily="34" charset="0"/>
              </a:rPr>
              <a:t>Text Embedding: Experiment with different text embedding techniques to represent the review text as numerical vectors.</a:t>
            </a:r>
          </a:p>
          <a:p>
            <a:pPr algn="just"/>
            <a:r>
              <a:rPr lang="en-US" dirty="0">
                <a:latin typeface="Arial Black" panose="020B0A04020102020204" pitchFamily="34" charset="0"/>
              </a:rPr>
              <a:t>Model Training: Train machine learning and deep learning models on the embedded text data to classify sentiment.</a:t>
            </a:r>
          </a:p>
          <a:p>
            <a:pPr algn="just"/>
            <a:r>
              <a:rPr lang="en-US" dirty="0">
                <a:latin typeface="Arial Black" panose="020B0A04020102020204" pitchFamily="34" charset="0"/>
              </a:rPr>
              <a:t>Model Evaluation: Evaluate the performance of the trained models using the F1-Score metric.</a:t>
            </a:r>
          </a:p>
          <a:p>
            <a:pPr algn="just"/>
            <a:r>
              <a:rPr lang="en-US" dirty="0">
                <a:latin typeface="Arial Black" panose="020B0A04020102020204" pitchFamily="34" charset="0"/>
              </a:rPr>
              <a:t>Flask or </a:t>
            </a:r>
            <a:r>
              <a:rPr lang="en-US" dirty="0" err="1">
                <a:latin typeface="Arial Black" panose="020B0A04020102020204" pitchFamily="34" charset="0"/>
              </a:rPr>
              <a:t>Streamlit</a:t>
            </a:r>
            <a:r>
              <a:rPr lang="en-US" dirty="0">
                <a:latin typeface="Arial Black" panose="020B0A04020102020204" pitchFamily="34" charset="0"/>
              </a:rPr>
              <a:t> App Development: Develop a Flask or </a:t>
            </a:r>
            <a:r>
              <a:rPr lang="en-US" dirty="0" err="1">
                <a:latin typeface="Arial Black" panose="020B0A04020102020204" pitchFamily="34" charset="0"/>
              </a:rPr>
              <a:t>Streamlit</a:t>
            </a:r>
            <a:r>
              <a:rPr lang="en-US" dirty="0">
                <a:latin typeface="Arial Black" panose="020B0A04020102020204" pitchFamily="34" charset="0"/>
              </a:rPr>
              <a:t> web application for sentiment analysis of user-provided reviews.</a:t>
            </a:r>
          </a:p>
          <a:p>
            <a:pPr algn="just"/>
            <a:r>
              <a:rPr lang="en-US" dirty="0">
                <a:latin typeface="Arial Black" panose="020B0A04020102020204" pitchFamily="34" charset="0"/>
              </a:rPr>
              <a:t>Model Deployment: Deploy the trained sentiment classification model along with the Flask or </a:t>
            </a:r>
            <a:r>
              <a:rPr lang="en-US" dirty="0" err="1">
                <a:latin typeface="Arial Black" panose="020B0A04020102020204" pitchFamily="34" charset="0"/>
              </a:rPr>
              <a:t>Streamlit</a:t>
            </a:r>
            <a:r>
              <a:rPr lang="en-US" dirty="0">
                <a:latin typeface="Arial Black" panose="020B0A04020102020204" pitchFamily="34" charset="0"/>
              </a:rPr>
              <a:t> app on an AWS EC2 instance.</a:t>
            </a:r>
          </a:p>
          <a:p>
            <a:pPr algn="just"/>
            <a:r>
              <a:rPr lang="en-US" dirty="0">
                <a:latin typeface="Arial Black" panose="020B0A04020102020204" pitchFamily="34" charset="0"/>
              </a:rPr>
              <a:t>Testing and Monitoring: Test the deployed application and monitor its performance for any issues or errors.</a:t>
            </a:r>
          </a:p>
          <a:p>
            <a:pPr marL="0" indent="0" algn="just">
              <a:buNone/>
            </a:pPr>
            <a:r>
              <a:rPr lang="en-US" dirty="0">
                <a:latin typeface="Arial Black" panose="020B0A04020102020204" pitchFamily="34" charset="0"/>
              </a:rPr>
              <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426942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xmlns="" id="{4C12FB48-3859-4B67-91F7-0B020D148282}"/>
              </a:ext>
            </a:extLst>
          </p:cNvPr>
          <p:cNvSpPr>
            <a:spLocks noGrp="1"/>
          </p:cNvSpPr>
          <p:nvPr>
            <p:ph type="body" idx="1"/>
          </p:nvPr>
        </p:nvSpPr>
        <p:spPr>
          <a:xfrm>
            <a:off x="1134918" y="509405"/>
            <a:ext cx="8081038" cy="727128"/>
          </a:xfrm>
        </p:spPr>
        <p:txBody>
          <a:bodyPr/>
          <a:lstStyle/>
          <a:p>
            <a:pPr algn="ctr"/>
            <a:r>
              <a:rPr lang="en-US" sz="2000" b="1" dirty="0">
                <a:latin typeface="Arial Black" panose="020B0A04020102020204" pitchFamily="34" charset="0"/>
              </a:rPr>
              <a:t>After Execution Code my code is successfully run</a:t>
            </a:r>
          </a:p>
          <a:p>
            <a:pPr algn="ctr"/>
            <a:r>
              <a:rPr lang="en-US" sz="2000" b="1" i="1" dirty="0">
                <a:solidFill>
                  <a:srgbClr val="FF0000"/>
                </a:solidFill>
                <a:latin typeface="Arial Black" panose="020B0A04020102020204" pitchFamily="34" charset="0"/>
              </a:rPr>
              <a:t>http://127.0.0.1:5000/</a:t>
            </a:r>
          </a:p>
        </p:txBody>
      </p:sp>
      <p:pic>
        <p:nvPicPr>
          <p:cNvPr id="2" name="Picture 1"/>
          <p:cNvPicPr>
            <a:picLocks noChangeAspect="1"/>
          </p:cNvPicPr>
          <p:nvPr/>
        </p:nvPicPr>
        <p:blipFill>
          <a:blip r:embed="rId2"/>
          <a:stretch>
            <a:fillRect/>
          </a:stretch>
        </p:blipFill>
        <p:spPr>
          <a:xfrm>
            <a:off x="391543" y="1340528"/>
            <a:ext cx="9134198" cy="5191667"/>
          </a:xfrm>
          <a:prstGeom prst="rect">
            <a:avLst/>
          </a:prstGeom>
        </p:spPr>
      </p:pic>
    </p:spTree>
    <p:extLst>
      <p:ext uri="{BB962C8B-B14F-4D97-AF65-F5344CB8AC3E}">
        <p14:creationId xmlns:p14="http://schemas.microsoft.com/office/powerpoint/2010/main" val="213373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3308" y="1077428"/>
            <a:ext cx="9105598" cy="3485694"/>
          </a:xfrm>
          <a:prstGeom prst="rect">
            <a:avLst/>
          </a:prstGeom>
        </p:spPr>
      </p:pic>
    </p:spTree>
    <p:extLst>
      <p:ext uri="{BB962C8B-B14F-4D97-AF65-F5344CB8AC3E}">
        <p14:creationId xmlns:p14="http://schemas.microsoft.com/office/powerpoint/2010/main" val="222091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15475" y="896645"/>
            <a:ext cx="9890752" cy="4643928"/>
          </a:xfrm>
          <a:prstGeom prst="rect">
            <a:avLst/>
          </a:prstGeom>
        </p:spPr>
      </p:pic>
    </p:spTree>
    <p:extLst>
      <p:ext uri="{BB962C8B-B14F-4D97-AF65-F5344CB8AC3E}">
        <p14:creationId xmlns:p14="http://schemas.microsoft.com/office/powerpoint/2010/main" val="318746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0720" y="846072"/>
            <a:ext cx="9926688" cy="4507164"/>
          </a:xfrm>
          <a:prstGeom prst="rect">
            <a:avLst/>
          </a:prstGeom>
        </p:spPr>
      </p:pic>
    </p:spTree>
    <p:extLst>
      <p:ext uri="{BB962C8B-B14F-4D97-AF65-F5344CB8AC3E}">
        <p14:creationId xmlns:p14="http://schemas.microsoft.com/office/powerpoint/2010/main" val="1237032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9E9E1C-4882-466E-BD72-F79C9DB3DB9D}"/>
              </a:ext>
            </a:extLst>
          </p:cNvPr>
          <p:cNvSpPr>
            <a:spLocks noGrp="1"/>
          </p:cNvSpPr>
          <p:nvPr>
            <p:ph type="title"/>
          </p:nvPr>
        </p:nvSpPr>
        <p:spPr>
          <a:xfrm>
            <a:off x="677334" y="1828800"/>
            <a:ext cx="8596668" cy="3676650"/>
          </a:xfrm>
        </p:spPr>
        <p:txBody>
          <a:bodyPr>
            <a:normAutofit/>
          </a:bodyPr>
          <a:lstStyle/>
          <a:p>
            <a:pPr algn="ctr"/>
            <a:r>
              <a:rPr lang="en-US" sz="9600" dirty="0">
                <a:solidFill>
                  <a:srgbClr val="FF0000"/>
                </a:solidFill>
                <a:latin typeface="Arial Black" panose="020B0A04020102020204" pitchFamily="34" charset="0"/>
              </a:rPr>
              <a:t>THANK </a:t>
            </a:r>
            <a:br>
              <a:rPr lang="en-US" sz="9600" dirty="0">
                <a:solidFill>
                  <a:srgbClr val="FF0000"/>
                </a:solidFill>
                <a:latin typeface="Arial Black" panose="020B0A04020102020204" pitchFamily="34" charset="0"/>
              </a:rPr>
            </a:br>
            <a:r>
              <a:rPr lang="en-US" sz="9600" dirty="0">
                <a:solidFill>
                  <a:srgbClr val="FF0000"/>
                </a:solidFill>
                <a:latin typeface="Arial Black" panose="020B0A04020102020204" pitchFamily="34" charset="0"/>
              </a:rPr>
              <a:t>YOU</a:t>
            </a:r>
          </a:p>
        </p:txBody>
      </p:sp>
    </p:spTree>
    <p:extLst>
      <p:ext uri="{BB962C8B-B14F-4D97-AF65-F5344CB8AC3E}">
        <p14:creationId xmlns:p14="http://schemas.microsoft.com/office/powerpoint/2010/main" val="26154888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176</TotalTime>
  <Words>503</Words>
  <Application>Microsoft Office PowerPoint</Application>
  <PresentationFormat>Widescreen</PresentationFormat>
  <Paragraphs>36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Trebuchet MS</vt:lpstr>
      <vt:lpstr>Wingdings 3</vt:lpstr>
      <vt:lpstr>Facet</vt:lpstr>
      <vt:lpstr>PowerPoint Presentation</vt:lpstr>
      <vt:lpstr>Objective</vt:lpstr>
      <vt:lpstr>Dataset</vt:lpstr>
      <vt:lpstr>Data Preprocessing</vt:lpstr>
      <vt:lpstr>Modeling Approach</vt:lpstr>
      <vt:lpstr>Model Deployment</vt:lpstr>
      <vt:lpstr>Workflow</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ADS JOYA</dc:creator>
  <cp:lastModifiedBy>ADS JOYA</cp:lastModifiedBy>
  <cp:revision>30</cp:revision>
  <dcterms:created xsi:type="dcterms:W3CDTF">2024-02-18T17:00:07Z</dcterms:created>
  <dcterms:modified xsi:type="dcterms:W3CDTF">2026-02-05T10:11:48Z</dcterms:modified>
</cp:coreProperties>
</file>